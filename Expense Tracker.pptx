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2"/>
  </p:notesMasterIdLst>
  <p:handoutMasterIdLst>
    <p:handoutMasterId r:id="rId13"/>
  </p:handoutMasterIdLst>
  <p:sldIdLst>
    <p:sldId id="317" r:id="rId5"/>
    <p:sldId id="307" r:id="rId6"/>
    <p:sldId id="309" r:id="rId7"/>
    <p:sldId id="310" r:id="rId8"/>
    <p:sldId id="311" r:id="rId9"/>
    <p:sldId id="312" r:id="rId10"/>
    <p:sldId id="30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A58"/>
    <a:srgbClr val="505A47"/>
    <a:srgbClr val="D1D8B7"/>
    <a:srgbClr val="A09D79"/>
    <a:srgbClr val="AD5C4D"/>
    <a:srgbClr val="543E35"/>
    <a:srgbClr val="637700"/>
    <a:srgbClr val="FFF4ED"/>
    <a:srgbClr val="5E6A7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5405" autoAdjust="0"/>
  </p:normalViewPr>
  <p:slideViewPr>
    <p:cSldViewPr snapToGrid="0">
      <p:cViewPr varScale="1">
        <p:scale>
          <a:sx n="81" d="100"/>
          <a:sy n="81" d="100"/>
        </p:scale>
        <p:origin x="754" y="53"/>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8/22/2026</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8/22/2026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67541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3</a:t>
            </a:fld>
            <a:endParaRPr lang="en-US" noProof="0" dirty="0"/>
          </a:p>
        </p:txBody>
      </p:sp>
    </p:spTree>
    <p:extLst>
      <p:ext uri="{BB962C8B-B14F-4D97-AF65-F5344CB8AC3E}">
        <p14:creationId xmlns:p14="http://schemas.microsoft.com/office/powerpoint/2010/main" val="87366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4</a:t>
            </a:fld>
            <a:endParaRPr lang="en-US" noProof="0" dirty="0"/>
          </a:p>
        </p:txBody>
      </p:sp>
    </p:spTree>
    <p:extLst>
      <p:ext uri="{BB962C8B-B14F-4D97-AF65-F5344CB8AC3E}">
        <p14:creationId xmlns:p14="http://schemas.microsoft.com/office/powerpoint/2010/main" val="1026281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5</a:t>
            </a:fld>
            <a:endParaRPr lang="en-US" noProof="0" dirty="0"/>
          </a:p>
        </p:txBody>
      </p:sp>
    </p:spTree>
    <p:extLst>
      <p:ext uri="{BB962C8B-B14F-4D97-AF65-F5344CB8AC3E}">
        <p14:creationId xmlns:p14="http://schemas.microsoft.com/office/powerpoint/2010/main" val="32108936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6</a:t>
            </a:fld>
            <a:endParaRPr lang="en-US" noProof="0" dirty="0"/>
          </a:p>
        </p:txBody>
      </p:sp>
    </p:spTree>
    <p:extLst>
      <p:ext uri="{BB962C8B-B14F-4D97-AF65-F5344CB8AC3E}">
        <p14:creationId xmlns:p14="http://schemas.microsoft.com/office/powerpoint/2010/main" val="3472499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7</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914400"/>
            <a:ext cx="10360152" cy="5029200"/>
          </a:xfrm>
        </p:spPr>
        <p:txBody>
          <a:bodyPr anchor="ctr"/>
          <a:lstStyle/>
          <a:p>
            <a:r>
              <a:rPr lang="en-US" dirty="0"/>
              <a:t>Expense Tracker</a:t>
            </a: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46C7B-D29F-368C-FEEC-CDFA125F8E5C}"/>
              </a:ext>
            </a:extLst>
          </p:cNvPr>
          <p:cNvSpPr>
            <a:spLocks noGrp="1"/>
          </p:cNvSpPr>
          <p:nvPr>
            <p:ph type="title"/>
          </p:nvPr>
        </p:nvSpPr>
        <p:spPr>
          <a:xfrm>
            <a:off x="1001467" y="914400"/>
            <a:ext cx="5641848" cy="5029200"/>
          </a:xfrm>
        </p:spPr>
        <p:txBody>
          <a:bodyPr/>
          <a:lstStyle/>
          <a:p>
            <a:r>
              <a:rPr lang="en-US" dirty="0"/>
              <a:t>agenda</a:t>
            </a:r>
          </a:p>
        </p:txBody>
      </p:sp>
      <p:graphicFrame>
        <p:nvGraphicFramePr>
          <p:cNvPr id="6" name="Table 4">
            <a:extLst>
              <a:ext uri="{FF2B5EF4-FFF2-40B4-BE49-F238E27FC236}">
                <a16:creationId xmlns:a16="http://schemas.microsoft.com/office/drawing/2014/main" id="{0D6FB95E-6987-A57C-3663-3FD6F6FAC24E}"/>
              </a:ext>
            </a:extLst>
          </p:cNvPr>
          <p:cNvGraphicFramePr>
            <a:graphicFrameLocks noGrp="1"/>
          </p:cNvGraphicFramePr>
          <p:nvPr>
            <p:ph idx="1"/>
            <p:extLst>
              <p:ext uri="{D42A27DB-BD31-4B8C-83A1-F6EECF244321}">
                <p14:modId xmlns:p14="http://schemas.microsoft.com/office/powerpoint/2010/main" val="2818160152"/>
              </p:ext>
            </p:extLst>
          </p:nvPr>
        </p:nvGraphicFramePr>
        <p:xfrm>
          <a:off x="7189624" y="1262013"/>
          <a:ext cx="4190999" cy="4333973"/>
        </p:xfrm>
        <a:graphic>
          <a:graphicData uri="http://schemas.openxmlformats.org/drawingml/2006/table">
            <a:tbl>
              <a:tblPr firstRow="1" bandRow="1"/>
              <a:tblGrid>
                <a:gridCol w="4190999">
                  <a:extLst>
                    <a:ext uri="{9D8B030D-6E8A-4147-A177-3AD203B41FA5}">
                      <a16:colId xmlns:a16="http://schemas.microsoft.com/office/drawing/2014/main" val="1563570424"/>
                    </a:ext>
                  </a:extLst>
                </a:gridCol>
              </a:tblGrid>
              <a:tr h="95136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b="0" dirty="0">
                          <a:latin typeface="+mn-lt"/>
                          <a:cs typeface="Gill Sans Light" panose="020B0302020104020203" pitchFamily="34" charset="-79"/>
                        </a:rPr>
                        <a:t>INTRODUCTION</a:t>
                      </a:r>
                    </a:p>
                    <a:p>
                      <a:pPr algn="r"/>
                      <a:r>
                        <a:rPr lang="en-US" sz="2400" b="0" dirty="0">
                          <a:latin typeface="+mj-lt"/>
                        </a:rPr>
                        <a:t>2</a:t>
                      </a:r>
                    </a:p>
                  </a:txBody>
                  <a:tcPr>
                    <a:lnL w="12700" cmpd="sng">
                      <a:noFill/>
                      <a:prstDash val="solid"/>
                    </a:lnL>
                    <a:lnR w="12700" cmpd="sng">
                      <a:noFill/>
                      <a:prstDash val="solid"/>
                    </a:lnR>
                    <a:lnT w="12700" cmpd="sng">
                      <a:noFill/>
                      <a:prstDash val="soli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9471877"/>
                  </a:ext>
                </a:extLst>
              </a:tr>
              <a:tr h="951360">
                <a:tc>
                  <a:txBody>
                    <a:bodyPr/>
                    <a:lstStyle/>
                    <a:p>
                      <a:pPr algn="r"/>
                      <a:r>
                        <a:rPr lang="en-US" sz="2400" b="0" dirty="0"/>
                        <a:t>MOTIVATION</a:t>
                      </a:r>
                    </a:p>
                    <a:p>
                      <a:pPr marL="0" algn="r" defTabSz="914400" rtl="0" eaLnBrk="1" latinLnBrk="0" hangingPunct="1"/>
                      <a:r>
                        <a:rPr lang="en-US" sz="2400" b="0" kern="1200" dirty="0">
                          <a:solidFill>
                            <a:schemeClr val="tx1"/>
                          </a:solidFill>
                          <a:latin typeface="+mj-lt"/>
                          <a:ea typeface="+mn-ea"/>
                          <a:cs typeface="+mn-cs"/>
                        </a:rPr>
                        <a:t>3</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36238222"/>
                  </a:ext>
                </a:extLst>
              </a:tr>
              <a:tr h="951360">
                <a:tc>
                  <a:txBody>
                    <a:bodyPr/>
                    <a:lstStyle/>
                    <a:p>
                      <a:pPr algn="r"/>
                      <a:r>
                        <a:rPr lang="en-US" sz="2400" b="0" dirty="0"/>
                        <a:t>PROBLEM STATEMENT</a:t>
                      </a:r>
                    </a:p>
                    <a:p>
                      <a:pPr marL="0" algn="r" defTabSz="914400" rtl="0" eaLnBrk="1" latinLnBrk="0" hangingPunct="1"/>
                      <a:r>
                        <a:rPr lang="en-US" sz="2400" b="0" kern="1200" dirty="0">
                          <a:solidFill>
                            <a:schemeClr val="tx1"/>
                          </a:solidFill>
                          <a:latin typeface="+mj-lt"/>
                          <a:ea typeface="+mn-ea"/>
                          <a:cs typeface="+mn-cs"/>
                        </a:rPr>
                        <a:t>4</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24452646"/>
                  </a:ext>
                </a:extLst>
              </a:tr>
              <a:tr h="951360">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2400" b="0" dirty="0"/>
                        <a:t>PROPOSED SOLUTION</a:t>
                      </a:r>
                      <a:endParaRPr lang="en-US" sz="2400" b="0" dirty="0">
                        <a:latin typeface="+mn-lt"/>
                        <a:cs typeface="Gill Sans Light" panose="020B0302020104020203" pitchFamily="34" charset="-79"/>
                      </a:endParaRPr>
                    </a:p>
                    <a:p>
                      <a:pPr marL="0" algn="r" defTabSz="914400" rtl="0" eaLnBrk="1" latinLnBrk="0" hangingPunct="1"/>
                      <a:r>
                        <a:rPr lang="en-US" sz="2400" b="0" kern="1200" dirty="0">
                          <a:solidFill>
                            <a:schemeClr val="tx1"/>
                          </a:solidFill>
                          <a:latin typeface="+mj-lt"/>
                          <a:ea typeface="+mn-ea"/>
                          <a:cs typeface="+mn-cs"/>
                        </a:rPr>
                        <a:t> 5</a:t>
                      </a: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90977400"/>
                  </a:ext>
                </a:extLst>
              </a:tr>
              <a:tr h="528533">
                <a:tc>
                  <a:txBody>
                    <a:bodyPr/>
                    <a:lstStyle/>
                    <a:p>
                      <a:pPr marL="0" algn="r" defTabSz="914400" rtl="0" eaLnBrk="1" latinLnBrk="0" hangingPunct="1"/>
                      <a:endParaRPr lang="en-US" sz="2400" b="0" kern="1200" dirty="0">
                        <a:solidFill>
                          <a:schemeClr val="tx1"/>
                        </a:solidFill>
                        <a:latin typeface="+mj-lt"/>
                        <a:ea typeface="+mn-ea"/>
                        <a:cs typeface="+mn-cs"/>
                      </a:endParaRPr>
                    </a:p>
                  </a:txBody>
                  <a:tcPr anchor="b">
                    <a:lnL w="12700" cmpd="sng">
                      <a:noFill/>
                      <a:prstDash val="solid"/>
                    </a:lnL>
                    <a:lnR w="12700" cmpd="sng">
                      <a:noFill/>
                      <a:prstDash val="solid"/>
                    </a:lnR>
                    <a:lnT w="9525" cap="flat" cmpd="sng" algn="ctr">
                      <a:solidFill>
                        <a:schemeClr val="tx1"/>
                      </a:solidFill>
                      <a:prstDash val="solid"/>
                      <a:round/>
                      <a:headEnd type="none" w="med" len="med"/>
                      <a:tailEnd type="none" w="med" len="med"/>
                    </a:lnT>
                    <a:lnB w="12700" cmpd="sng">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3056376589"/>
                  </a:ext>
                </a:extLst>
              </a:tr>
            </a:tbl>
          </a:graphicData>
        </a:graphic>
      </p:graphicFrame>
    </p:spTree>
    <p:extLst>
      <p:ext uri="{BB962C8B-B14F-4D97-AF65-F5344CB8AC3E}">
        <p14:creationId xmlns:p14="http://schemas.microsoft.com/office/powerpoint/2010/main" val="586478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8">
            <a:extLst>
              <a:ext uri="{FF2B5EF4-FFF2-40B4-BE49-F238E27FC236}">
                <a16:creationId xmlns:a16="http://schemas.microsoft.com/office/drawing/2014/main" id="{A7BE12AD-D808-BDE0-3EB8-5BC50B1D8474}"/>
              </a:ext>
            </a:extLst>
          </p:cNvPr>
          <p:cNvSpPr>
            <a:spLocks noGrp="1"/>
          </p:cNvSpPr>
          <p:nvPr>
            <p:ph type="title"/>
          </p:nvPr>
        </p:nvSpPr>
        <p:spPr/>
        <p:txBody>
          <a:bodyPr/>
          <a:lstStyle/>
          <a:p>
            <a:r>
              <a:rPr lang="en-US" sz="3600" dirty="0"/>
              <a:t>Introduction</a:t>
            </a:r>
          </a:p>
        </p:txBody>
      </p:sp>
      <p:sp>
        <p:nvSpPr>
          <p:cNvPr id="8" name="Content Placeholder 7">
            <a:extLst>
              <a:ext uri="{FF2B5EF4-FFF2-40B4-BE49-F238E27FC236}">
                <a16:creationId xmlns:a16="http://schemas.microsoft.com/office/drawing/2014/main" id="{BCFDA37B-399A-B9F0-7A7D-2A891EB7FFA6}"/>
              </a:ext>
            </a:extLst>
          </p:cNvPr>
          <p:cNvSpPr>
            <a:spLocks noGrp="1"/>
          </p:cNvSpPr>
          <p:nvPr>
            <p:ph sz="quarter" idx="10"/>
          </p:nvPr>
        </p:nvSpPr>
        <p:spPr>
          <a:xfrm>
            <a:off x="914400" y="2039112"/>
            <a:ext cx="7150608" cy="3356576"/>
          </a:xfrm>
        </p:spPr>
        <p:txBody>
          <a:bodyPr>
            <a:normAutofit fontScale="92500"/>
          </a:bodyPr>
          <a:lstStyle/>
          <a:p>
            <a:pPr marL="0" indent="0">
              <a:lnSpc>
                <a:spcPct val="150000"/>
              </a:lnSpc>
              <a:buNone/>
            </a:pPr>
            <a:r>
              <a:rPr lang="en-US" dirty="0"/>
              <a:t>Personal finance management is something most people handle reactively — tracking expenses after they've already happened, with little planning for predictable future costs. The Smart Expense Tracker is a full-stack web application that combines traditional expense tracking with a lightweight AI layer, helping users not just record spending but anticipate it — particularly around recurring life events like birthdays, anniversaries, and festivals that tend to cause unplanned spikes.</a:t>
            </a:r>
          </a:p>
        </p:txBody>
      </p:sp>
      <p:sp>
        <p:nvSpPr>
          <p:cNvPr id="3" name="Slide Number Placeholder 2">
            <a:extLst>
              <a:ext uri="{FF2B5EF4-FFF2-40B4-BE49-F238E27FC236}">
                <a16:creationId xmlns:a16="http://schemas.microsoft.com/office/drawing/2014/main" id="{50CD348E-9357-0442-4555-AF6B4AFE34B6}"/>
              </a:ext>
            </a:extLst>
          </p:cNvPr>
          <p:cNvSpPr>
            <a:spLocks noGrp="1"/>
          </p:cNvSpPr>
          <p:nvPr>
            <p:ph type="sldNum" sz="quarter" idx="4"/>
          </p:nvPr>
        </p:nvSpPr>
        <p:spPr>
          <a:xfrm>
            <a:off x="11353800" y="5879804"/>
            <a:ext cx="661416" cy="895899"/>
          </a:xfrm>
        </p:spPr>
        <p:txBody>
          <a:bodyPr/>
          <a:lstStyle/>
          <a:p>
            <a:r>
              <a:rPr lang="en-US" dirty="0"/>
              <a:t>2</a:t>
            </a:r>
          </a:p>
        </p:txBody>
      </p:sp>
    </p:spTree>
    <p:extLst>
      <p:ext uri="{BB962C8B-B14F-4D97-AF65-F5344CB8AC3E}">
        <p14:creationId xmlns:p14="http://schemas.microsoft.com/office/powerpoint/2010/main" val="1966913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49404F1-8E94-7D3D-71E2-A1A4B7CBCB4A}"/>
              </a:ext>
            </a:extLst>
          </p:cNvPr>
          <p:cNvSpPr>
            <a:spLocks noGrp="1"/>
          </p:cNvSpPr>
          <p:nvPr>
            <p:ph type="title"/>
          </p:nvPr>
        </p:nvSpPr>
        <p:spPr/>
        <p:txBody>
          <a:bodyPr/>
          <a:lstStyle/>
          <a:p>
            <a:r>
              <a:rPr lang="en-US" sz="3600" dirty="0"/>
              <a:t>Motivation</a:t>
            </a:r>
          </a:p>
        </p:txBody>
      </p:sp>
      <p:sp>
        <p:nvSpPr>
          <p:cNvPr id="14" name="Content Placeholder 13">
            <a:extLst>
              <a:ext uri="{FF2B5EF4-FFF2-40B4-BE49-F238E27FC236}">
                <a16:creationId xmlns:a16="http://schemas.microsoft.com/office/drawing/2014/main" id="{F4A3718F-D67C-255A-4B64-BA379609FCD0}"/>
              </a:ext>
            </a:extLst>
          </p:cNvPr>
          <p:cNvSpPr>
            <a:spLocks noGrp="1"/>
          </p:cNvSpPr>
          <p:nvPr>
            <p:ph sz="quarter" idx="11"/>
          </p:nvPr>
        </p:nvSpPr>
        <p:spPr>
          <a:xfrm>
            <a:off x="914400" y="2039112"/>
            <a:ext cx="8653806" cy="3877055"/>
          </a:xfrm>
        </p:spPr>
        <p:txBody>
          <a:bodyPr>
            <a:normAutofit/>
          </a:bodyPr>
          <a:lstStyle/>
          <a:p>
            <a:pPr>
              <a:lnSpc>
                <a:spcPct val="150000"/>
              </a:lnSpc>
            </a:pPr>
            <a:r>
              <a:rPr lang="en-US" sz="1900" dirty="0"/>
              <a:t>Most expense tracking apps are purely retrospective — they show you where your money went, not where it's about to go. In practice, a large share of "unexpected" overspending isn't actually unexpected: birthdays, anniversaries, and festivals recur every year, yet they still catch people off guard financially because there's no system connecting </a:t>
            </a:r>
            <a:r>
              <a:rPr lang="en-US" sz="1900" b="1" i="1" dirty="0"/>
              <a:t>calendar events</a:t>
            </a:r>
            <a:r>
              <a:rPr lang="en-US" sz="1900" b="1" dirty="0"/>
              <a:t> to </a:t>
            </a:r>
            <a:r>
              <a:rPr lang="en-US" sz="1900" b="1" i="1" dirty="0"/>
              <a:t>spending patterns</a:t>
            </a:r>
            <a:r>
              <a:rPr lang="en-US" sz="1900" dirty="0"/>
              <a:t>. This project was motivated by that gap — the idea that a tracker should be able to say "you have two events next month, here's what you spent on similar events before, and here's what to budget for," instead of just logging numbers after the fact.</a:t>
            </a:r>
          </a:p>
        </p:txBody>
      </p:sp>
      <p:sp>
        <p:nvSpPr>
          <p:cNvPr id="2" name="Slide Number Placeholder 1">
            <a:extLst>
              <a:ext uri="{FF2B5EF4-FFF2-40B4-BE49-F238E27FC236}">
                <a16:creationId xmlns:a16="http://schemas.microsoft.com/office/drawing/2014/main" id="{F35BAC3D-60A1-816B-5C79-2E8B6D9806E9}"/>
              </a:ext>
            </a:extLst>
          </p:cNvPr>
          <p:cNvSpPr>
            <a:spLocks noGrp="1"/>
          </p:cNvSpPr>
          <p:nvPr>
            <p:ph type="sldNum" sz="quarter" idx="4"/>
          </p:nvPr>
        </p:nvSpPr>
        <p:spPr>
          <a:xfrm>
            <a:off x="11353800" y="5879804"/>
            <a:ext cx="661416" cy="895899"/>
          </a:xfrm>
        </p:spPr>
        <p:txBody>
          <a:bodyPr/>
          <a:lstStyle/>
          <a:p>
            <a:r>
              <a:rPr lang="en-US" dirty="0"/>
              <a:t>3</a:t>
            </a:r>
          </a:p>
        </p:txBody>
      </p:sp>
    </p:spTree>
    <p:extLst>
      <p:ext uri="{BB962C8B-B14F-4D97-AF65-F5344CB8AC3E}">
        <p14:creationId xmlns:p14="http://schemas.microsoft.com/office/powerpoint/2010/main" val="4230106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7A49C0DA-C8AE-5ECC-149A-D60ECFF8C1EB}"/>
              </a:ext>
            </a:extLst>
          </p:cNvPr>
          <p:cNvSpPr>
            <a:spLocks noGrp="1"/>
          </p:cNvSpPr>
          <p:nvPr>
            <p:ph type="title"/>
          </p:nvPr>
        </p:nvSpPr>
        <p:spPr/>
        <p:txBody>
          <a:bodyPr/>
          <a:lstStyle/>
          <a:p>
            <a:r>
              <a:rPr lang="en-US" sz="3600" dirty="0"/>
              <a:t>Problem Statement</a:t>
            </a:r>
          </a:p>
        </p:txBody>
      </p:sp>
      <p:sp>
        <p:nvSpPr>
          <p:cNvPr id="12" name="Content Placeholder 11">
            <a:extLst>
              <a:ext uri="{FF2B5EF4-FFF2-40B4-BE49-F238E27FC236}">
                <a16:creationId xmlns:a16="http://schemas.microsoft.com/office/drawing/2014/main" id="{C6F2BA06-39BD-0413-D150-70F75EA6CC38}"/>
              </a:ext>
            </a:extLst>
          </p:cNvPr>
          <p:cNvSpPr>
            <a:spLocks noGrp="1"/>
          </p:cNvSpPr>
          <p:nvPr>
            <p:ph sz="quarter" idx="13"/>
          </p:nvPr>
        </p:nvSpPr>
        <p:spPr>
          <a:xfrm>
            <a:off x="914399" y="2039112"/>
            <a:ext cx="8616100" cy="3904488"/>
          </a:xfrm>
        </p:spPr>
        <p:txBody>
          <a:bodyPr>
            <a:normAutofit/>
          </a:bodyPr>
          <a:lstStyle/>
          <a:p>
            <a:r>
              <a:rPr lang="en-US" sz="1900" dirty="0"/>
              <a:t>Existing expense trackers are largely passive systems: they record transactions and generate historical reports, but they don't connect spending to context. Users are left to manually remember upcoming events, estimate costs on their own, and search for gift/purchase options separately from their budgeting tool. This creates three specific gaps:</a:t>
            </a:r>
          </a:p>
          <a:p>
            <a:r>
              <a:rPr lang="en-US" sz="1900" dirty="0"/>
              <a:t>No forecasting that accounts for known upcoming events (only generic monthly averages, if any)</a:t>
            </a:r>
          </a:p>
          <a:p>
            <a:r>
              <a:rPr lang="en-US" sz="1900" dirty="0"/>
              <a:t>No integrated reminder system tying financial planning to a personal calendar of recurring events</a:t>
            </a:r>
          </a:p>
          <a:p>
            <a:r>
              <a:rPr lang="en-US" sz="1900" dirty="0"/>
              <a:t>No single space to plan for an event — spending history, notes, and reminders live in separate apps (calendar, notes app, budgeting app)</a:t>
            </a:r>
          </a:p>
          <a:p>
            <a:endParaRPr lang="en-US" sz="1900" dirty="0"/>
          </a:p>
        </p:txBody>
      </p:sp>
      <p:sp>
        <p:nvSpPr>
          <p:cNvPr id="5" name="Slide Number Placeholder 4">
            <a:extLst>
              <a:ext uri="{FF2B5EF4-FFF2-40B4-BE49-F238E27FC236}">
                <a16:creationId xmlns:a16="http://schemas.microsoft.com/office/drawing/2014/main" id="{AF012FDC-7484-2B3B-E496-144348256B81}"/>
              </a:ext>
            </a:extLst>
          </p:cNvPr>
          <p:cNvSpPr>
            <a:spLocks noGrp="1"/>
          </p:cNvSpPr>
          <p:nvPr>
            <p:ph type="sldNum" sz="quarter" idx="4"/>
          </p:nvPr>
        </p:nvSpPr>
        <p:spPr>
          <a:xfrm>
            <a:off x="11353800" y="5879804"/>
            <a:ext cx="661416" cy="895899"/>
          </a:xfrm>
        </p:spPr>
        <p:txBody>
          <a:bodyPr/>
          <a:lstStyle/>
          <a:p>
            <a:r>
              <a:rPr lang="en-US" dirty="0"/>
              <a:t>4</a:t>
            </a:r>
          </a:p>
        </p:txBody>
      </p:sp>
    </p:spTree>
    <p:extLst>
      <p:ext uri="{BB962C8B-B14F-4D97-AF65-F5344CB8AC3E}">
        <p14:creationId xmlns:p14="http://schemas.microsoft.com/office/powerpoint/2010/main" val="37483489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95044F7-BD97-2FDE-4E33-A565BCF0EFEC}"/>
              </a:ext>
            </a:extLst>
          </p:cNvPr>
          <p:cNvSpPr>
            <a:spLocks noGrp="1"/>
          </p:cNvSpPr>
          <p:nvPr>
            <p:ph type="title"/>
          </p:nvPr>
        </p:nvSpPr>
        <p:spPr/>
        <p:txBody>
          <a:bodyPr/>
          <a:lstStyle/>
          <a:p>
            <a:r>
              <a:rPr lang="en-US" sz="3600" dirty="0"/>
              <a:t>Proposed</a:t>
            </a:r>
            <a:r>
              <a:rPr lang="en-US" sz="3200" dirty="0"/>
              <a:t> </a:t>
            </a:r>
            <a:r>
              <a:rPr lang="en-US" sz="3600" dirty="0"/>
              <a:t>Solution</a:t>
            </a:r>
          </a:p>
        </p:txBody>
      </p:sp>
      <p:sp>
        <p:nvSpPr>
          <p:cNvPr id="3" name="Content Placeholder 2">
            <a:extLst>
              <a:ext uri="{FF2B5EF4-FFF2-40B4-BE49-F238E27FC236}">
                <a16:creationId xmlns:a16="http://schemas.microsoft.com/office/drawing/2014/main" id="{DE597F60-88E2-C430-D52B-6604405AD55C}"/>
              </a:ext>
            </a:extLst>
          </p:cNvPr>
          <p:cNvSpPr>
            <a:spLocks noGrp="1"/>
          </p:cNvSpPr>
          <p:nvPr>
            <p:ph sz="quarter" idx="12"/>
          </p:nvPr>
        </p:nvSpPr>
        <p:spPr>
          <a:xfrm>
            <a:off x="914399" y="2039111"/>
            <a:ext cx="8898904" cy="4192007"/>
          </a:xfrm>
        </p:spPr>
        <p:txBody>
          <a:bodyPr>
            <a:normAutofit/>
          </a:bodyPr>
          <a:lstStyle/>
          <a:p>
            <a:pPr>
              <a:lnSpc>
                <a:spcPct val="100000"/>
              </a:lnSpc>
            </a:pPr>
            <a:r>
              <a:rPr lang="en-US" sz="1900" dirty="0"/>
              <a:t>Our  </a:t>
            </a:r>
            <a:r>
              <a:rPr lang="en-US" sz="1900" dirty="0" err="1"/>
              <a:t>SmartExpense</a:t>
            </a:r>
            <a:r>
              <a:rPr lang="en-US" sz="1900" dirty="0"/>
              <a:t> Tracker addresses this with four integrated modules:</a:t>
            </a:r>
          </a:p>
          <a:p>
            <a:pPr marL="342900" indent="-342900">
              <a:lnSpc>
                <a:spcPct val="100000"/>
              </a:lnSpc>
              <a:buFont typeface="Arial" panose="020B0604020202020204" pitchFamily="34" charset="0"/>
              <a:buChar char="•"/>
            </a:pPr>
            <a:r>
              <a:rPr lang="en-US" sz="1900" b="1" dirty="0"/>
              <a:t>Expense Tracking</a:t>
            </a:r>
            <a:r>
              <a:rPr lang="en-US" sz="1900" dirty="0"/>
              <a:t>— standard transaction logging, categorization, and visualization (trends, category breakdowns) using React, Express, and MongoDB.</a:t>
            </a:r>
          </a:p>
          <a:p>
            <a:pPr marL="342900" indent="-342900">
              <a:lnSpc>
                <a:spcPct val="100000"/>
              </a:lnSpc>
              <a:buFont typeface="Arial" panose="020B0604020202020204" pitchFamily="34" charset="0"/>
              <a:buChar char="•"/>
            </a:pPr>
            <a:r>
              <a:rPr lang="en-US" sz="1900" b="1" dirty="0"/>
              <a:t>Event-Aware Prediction</a:t>
            </a:r>
            <a:r>
              <a:rPr lang="en-US" sz="1900" dirty="0"/>
              <a:t>— a forecasting service that predicts next month's spend per category, adjusted for any registered upcoming events (e.g., increasing the "Gifts" prediction when a birthday is registered for that month), using historical transaction data.</a:t>
            </a:r>
          </a:p>
          <a:p>
            <a:pPr marL="342900" indent="-342900">
              <a:lnSpc>
                <a:spcPct val="100000"/>
              </a:lnSpc>
              <a:buFont typeface="Arial" panose="020B0604020202020204" pitchFamily="34" charset="0"/>
              <a:buChar char="•"/>
            </a:pPr>
            <a:r>
              <a:rPr lang="en-US" sz="1900" b="1" dirty="0"/>
              <a:t>Reminders</a:t>
            </a:r>
            <a:r>
              <a:rPr lang="en-US" sz="1900" dirty="0"/>
              <a:t> — a scheduled job that proactively notifies users ahead of registered events, surfacing past spend on similar events to help them plan.</a:t>
            </a:r>
          </a:p>
          <a:p>
            <a:pPr marL="342900" indent="-342900">
              <a:lnSpc>
                <a:spcPct val="100000"/>
              </a:lnSpc>
              <a:buFont typeface="Arial" panose="020B0604020202020204" pitchFamily="34" charset="0"/>
              <a:buChar char="•"/>
            </a:pPr>
            <a:r>
              <a:rPr lang="en-US" sz="1900" b="1" dirty="0"/>
              <a:t>Notes &amp; Saved Items</a:t>
            </a:r>
            <a:r>
              <a:rPr lang="en-US" sz="1900" dirty="0"/>
              <a:t> — an integrated space (similar to a notes app) where users can jot plans for an event and save product links, keeping planning and budgeting in one place instead of scattered across apps.</a:t>
            </a:r>
          </a:p>
        </p:txBody>
      </p:sp>
      <p:sp>
        <p:nvSpPr>
          <p:cNvPr id="6" name="Slide Number Placeholder 4">
            <a:extLst>
              <a:ext uri="{FF2B5EF4-FFF2-40B4-BE49-F238E27FC236}">
                <a16:creationId xmlns:a16="http://schemas.microsoft.com/office/drawing/2014/main" id="{247E5AA3-D397-0940-8C69-0E08F12F2A09}"/>
              </a:ext>
            </a:extLst>
          </p:cNvPr>
          <p:cNvSpPr>
            <a:spLocks noGrp="1"/>
          </p:cNvSpPr>
          <p:nvPr>
            <p:ph type="sldNum" sz="quarter" idx="4"/>
          </p:nvPr>
        </p:nvSpPr>
        <p:spPr>
          <a:xfrm>
            <a:off x="11353800" y="5879804"/>
            <a:ext cx="661416" cy="895899"/>
          </a:xfrm>
        </p:spPr>
        <p:txBody>
          <a:bodyPr/>
          <a:lstStyle/>
          <a:p>
            <a:r>
              <a:rPr lang="en-US" dirty="0"/>
              <a:t>5</a:t>
            </a:r>
          </a:p>
        </p:txBody>
      </p:sp>
    </p:spTree>
    <p:extLst>
      <p:ext uri="{BB962C8B-B14F-4D97-AF65-F5344CB8AC3E}">
        <p14:creationId xmlns:p14="http://schemas.microsoft.com/office/powerpoint/2010/main" val="859909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249AD37-9510-4A2D-B790-12C439A83F93}">
  <ds:schemaRefs>
    <ds:schemaRef ds:uri="http://schemas.microsoft.com/sharepoint/v3/contenttype/forms"/>
  </ds:schemaRefs>
</ds:datastoreItem>
</file>

<file path=customXml/itemProps3.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{E59E45D1-C5F5-484B-957A-2941BF196A8B}TF1ed9553b-00c4-4092-846a-c8f7f2908f3beecd942f_win32-8e33096c3cfc</Template>
  <TotalTime>113</TotalTime>
  <Words>489</Words>
  <Application>Microsoft Office PowerPoint</Application>
  <PresentationFormat>Widescreen</PresentationFormat>
  <Paragraphs>37</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Courier New</vt:lpstr>
      <vt:lpstr>Gill Sans Nova Light</vt:lpstr>
      <vt:lpstr>Sagona Book</vt:lpstr>
      <vt:lpstr>Custom</vt:lpstr>
      <vt:lpstr>Expense Tracker</vt:lpstr>
      <vt:lpstr>agenda</vt:lpstr>
      <vt:lpstr>Introduction</vt:lpstr>
      <vt:lpstr>Motivation</vt:lpstr>
      <vt:lpstr>Problem Statement</vt:lpstr>
      <vt:lpstr>Proposed Solution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Divanshi Garg</dc:creator>
  <cp:lastModifiedBy>Divanshi Garg</cp:lastModifiedBy>
  <cp:revision>2</cp:revision>
  <dcterms:created xsi:type="dcterms:W3CDTF">2026-08-08T16:32:16Z</dcterms:created>
  <dcterms:modified xsi:type="dcterms:W3CDTF">2026-08-22T10:12:04Z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